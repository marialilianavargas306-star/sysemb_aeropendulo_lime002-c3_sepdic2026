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mbria Bold" charset="1" panose="02040803050406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3"/>
    </p:embeddedFont>
    <p:embeddedFont>
      <p:font typeface="Cambria Italics" charset="1" panose="02040503050406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1: presenta el equipo y el nombre del proyecto. Mencionar que el proyecto cubre Sistemas Embebidos y Modelado y Simulación de Sistemas.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1: el aeropéndulo ya se usa como planta didáctica y de investigación. Mencionar UFPE 2024, Quanser Aero 2 (CBA 2024), bancos de prueba para cuadrirrotores y el péndulo de Furuta con PID. Aclarar que no es inédito; el valor está en la implementación embebida completa.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2: explicar por qué probar control en un vehículo real es riesgoso y por qué un aeropéndulo reproduce el problema en un solo eje de forma segura.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2: relacionar cada problema con el aporte. Leer el objetivo general.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3: mostrar el estado actual de la planta. Reemplazar los marcos con fotos del brazo, el eje, los motores con hélices y el sensor de ángulo.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3: seguir el lazo. Referencia y botones entran al STM32; el PID calcula; el timer genera PWM para los ESC; los motores mueven el brazo; el sensor cierra el lazo. UART envía telemetría a la PC.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3: describir el lazo de 1 kHz (ajustable). Explicar los niveles de complejidad y que se validará con el profesor el nivel reconocido para el 100 %.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4: presentar el cronograma. Reemplazar las semanas por fechas reales de la etapa 2 y la etapa 3 antes de exponer.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4: presupuesto estimado en pesos mexicanos. Ajustar cada renglón con la cotización real y marcar lo ya comprado.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Integrante 4: mostrar evidencias reales: investigación hecha, compras, fotos de pruebas y el código base inicial. Marcar lo que ya está hecho y borrar lo que no.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9670" y="1261110"/>
            <a:ext cx="4792980" cy="4792980"/>
            <a:chOff x="0" y="0"/>
            <a:chExt cx="6390640" cy="6390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90640" cy="6390640"/>
            </a:xfrm>
            <a:custGeom>
              <a:avLst/>
              <a:gdLst/>
              <a:ahLst/>
              <a:cxnLst/>
              <a:rect r="r" b="b" t="t" l="l"/>
              <a:pathLst>
                <a:path h="6390640" w="6390640">
                  <a:moveTo>
                    <a:pt x="0" y="3195320"/>
                  </a:moveTo>
                  <a:cubicBezTo>
                    <a:pt x="0" y="1430655"/>
                    <a:pt x="1430655" y="0"/>
                    <a:pt x="3195320" y="0"/>
                  </a:cubicBezTo>
                  <a:cubicBezTo>
                    <a:pt x="4959985" y="0"/>
                    <a:pt x="6390640" y="1430655"/>
                    <a:pt x="6390640" y="3195320"/>
                  </a:cubicBezTo>
                  <a:cubicBezTo>
                    <a:pt x="6390640" y="4959985"/>
                    <a:pt x="4959985" y="6390640"/>
                    <a:pt x="3195320" y="6390640"/>
                  </a:cubicBezTo>
                  <a:cubicBezTo>
                    <a:pt x="1430655" y="6390640"/>
                    <a:pt x="0" y="4959985"/>
                    <a:pt x="0" y="3195320"/>
                  </a:cubicBezTo>
                  <a:close/>
                </a:path>
              </a:pathLst>
            </a:custGeom>
            <a:solidFill>
              <a:srgbClr val="1C1C1F"/>
            </a:solidFill>
            <a:ln w="381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063223" y="1724663"/>
            <a:ext cx="3865883" cy="3865883"/>
            <a:chOff x="0" y="0"/>
            <a:chExt cx="5154511" cy="51545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54549" cy="5154549"/>
            </a:xfrm>
            <a:custGeom>
              <a:avLst/>
              <a:gdLst/>
              <a:ahLst/>
              <a:cxnLst/>
              <a:rect r="r" b="b" t="t" l="l"/>
              <a:pathLst>
                <a:path h="5154549" w="5154549">
                  <a:moveTo>
                    <a:pt x="0" y="2577211"/>
                  </a:moveTo>
                  <a:cubicBezTo>
                    <a:pt x="0" y="1153922"/>
                    <a:pt x="1153922" y="0"/>
                    <a:pt x="2577211" y="0"/>
                  </a:cubicBezTo>
                  <a:cubicBezTo>
                    <a:pt x="4000500" y="0"/>
                    <a:pt x="5154549" y="1153922"/>
                    <a:pt x="5154549" y="2577211"/>
                  </a:cubicBezTo>
                  <a:cubicBezTo>
                    <a:pt x="5154549" y="4000500"/>
                    <a:pt x="4000627" y="5154549"/>
                    <a:pt x="2577211" y="5154549"/>
                  </a:cubicBezTo>
                  <a:cubicBezTo>
                    <a:pt x="1153795" y="5154549"/>
                    <a:pt x="0" y="4000627"/>
                    <a:pt x="0" y="2577211"/>
                  </a:cubicBezTo>
                  <a:close/>
                </a:path>
              </a:pathLst>
            </a:custGeom>
            <a:solidFill>
              <a:srgbClr val="0B0B0C"/>
            </a:solidFill>
            <a:ln w="2540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983463" y="3279143"/>
            <a:ext cx="574043" cy="574043"/>
            <a:chOff x="0" y="0"/>
            <a:chExt cx="765391" cy="7653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128016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SISTEMAS EMBEBIDOS · ETAPA 1 · SEP–DIC 2026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7280" y="2093595"/>
            <a:ext cx="10789920" cy="311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true">
                <a:solidFill>
                  <a:srgbClr val="C9C9CE"/>
                </a:solidFill>
                <a:latin typeface="Cambria Bold"/>
                <a:ea typeface="Cambria Bold"/>
                <a:cs typeface="Cambria Bold"/>
                <a:sym typeface="Cambria Bold"/>
              </a:rPr>
              <a:t>Aeropéndulo de 2 hélices con control PID en STM32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280" y="4972050"/>
            <a:ext cx="987552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de ángulo con sensor, PWM y lazo cerrado embebido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87755" y="7031355"/>
            <a:ext cx="16112490" cy="2213610"/>
            <a:chOff x="0" y="0"/>
            <a:chExt cx="21483320" cy="2951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8332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1483320">
                  <a:moveTo>
                    <a:pt x="0" y="0"/>
                  </a:moveTo>
                  <a:lnTo>
                    <a:pt x="21483320" y="0"/>
                  </a:lnTo>
                  <a:lnTo>
                    <a:pt x="21483320" y="2951480"/>
                  </a:lnTo>
                  <a:lnTo>
                    <a:pt x="0" y="295148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54480" y="7260336"/>
            <a:ext cx="5486400" cy="457200"/>
            <a:chOff x="0" y="0"/>
            <a:chExt cx="73152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54480" y="7863840"/>
            <a:ext cx="7498080" cy="548640"/>
            <a:chOff x="0" y="0"/>
            <a:chExt cx="99974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999744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Elizabeth Navarro Téllez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18320" y="7863840"/>
            <a:ext cx="7498080" cy="557138"/>
            <a:chOff x="0" y="0"/>
            <a:chExt cx="9997440" cy="7428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97440" cy="742851"/>
            </a:xfrm>
            <a:custGeom>
              <a:avLst/>
              <a:gdLst/>
              <a:ahLst/>
              <a:cxnLst/>
              <a:rect r="r" b="b" t="t" l="l"/>
              <a:pathLst>
                <a:path h="742851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96" r="0" b="-21147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9974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María Liliana Vargas Juárez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4480" y="8503920"/>
            <a:ext cx="7498080" cy="557138"/>
            <a:chOff x="0" y="0"/>
            <a:chExt cx="9997440" cy="7428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97440" cy="742851"/>
            </a:xfrm>
            <a:custGeom>
              <a:avLst/>
              <a:gdLst/>
              <a:ahLst/>
              <a:cxnLst/>
              <a:rect r="r" b="b" t="t" l="l"/>
              <a:pathLst>
                <a:path h="742851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96" r="0" b="-21147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9974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Fernando Gudiño Jiménez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18320" y="8503920"/>
            <a:ext cx="7498080" cy="557138"/>
            <a:chOff x="0" y="0"/>
            <a:chExt cx="9997440" cy="7428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0" cy="742851"/>
            </a:xfrm>
            <a:custGeom>
              <a:avLst/>
              <a:gdLst/>
              <a:ahLst/>
              <a:cxnLst/>
              <a:rect r="r" b="b" t="t" l="l"/>
              <a:pathLst>
                <a:path h="742851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96" r="0" b="-21147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9974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Jesus Omar Hernandez Medina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Antecedentes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4875" y="2459355"/>
            <a:ext cx="8065770" cy="2945130"/>
            <a:chOff x="0" y="0"/>
            <a:chExt cx="10754360" cy="3926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543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0160" y="2686050"/>
            <a:ext cx="731520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D4AF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Aeropéndulo didáctico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0160" y="3499485"/>
            <a:ext cx="7315200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Planta reconfigurable para enseñar control y extraer datos para identificación (UFPE, 2024).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17355" y="2459355"/>
            <a:ext cx="8065770" cy="2945130"/>
            <a:chOff x="0" y="0"/>
            <a:chExt cx="10754360" cy="3926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543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692640" y="2686050"/>
            <a:ext cx="731520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D4AF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Quanser Aero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92640" y="3499485"/>
            <a:ext cx="7315200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Dos hélices: una controla y otra perturba; se compararon 4 controladores (CBA 2024).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4875" y="5659755"/>
            <a:ext cx="8065770" cy="2945130"/>
            <a:chOff x="0" y="0"/>
            <a:chExt cx="10754360" cy="3926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543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80160" y="5886450"/>
            <a:ext cx="731520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D4AF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Bancos para drones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0160" y="6699885"/>
            <a:ext cx="7315200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Soportes que limitan el movimiento para ensayar balanceo y cabeceo en cuadrirrotores.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17355" y="5659755"/>
            <a:ext cx="8065770" cy="2945130"/>
            <a:chOff x="0" y="0"/>
            <a:chExt cx="10754360" cy="3926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543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692640" y="5886450"/>
            <a:ext cx="731520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D4AF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Péndulos con PID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92640" y="6699885"/>
            <a:ext cx="7315200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El PID estabilizó un péndulo de Furuta incluso con perturbaciones (Unicamp).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" y="8924544"/>
            <a:ext cx="14996160" cy="548640"/>
            <a:chOff x="0" y="0"/>
            <a:chExt cx="1999488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9994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 PID domina el control en la práctica: se reporta que más del 95 % de los lazos de proceso lo usan.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Introducción y problemática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377440"/>
            <a:ext cx="16459200" cy="1645920"/>
            <a:chOff x="0" y="0"/>
            <a:chExt cx="2194560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i="true">
                  <a:solidFill>
                    <a:srgbClr val="F0D77A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¿Cómo regular de forma estable, segura y repetible el ángulo de un brazo propulsado por dos hélices con un PID embebido en un STM32?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" y="4562475"/>
            <a:ext cx="3950970" cy="4591050"/>
            <a:chOff x="0" y="0"/>
            <a:chExt cx="5267960" cy="6121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7960" cy="6121400"/>
            </a:xfrm>
            <a:custGeom>
              <a:avLst/>
              <a:gdLst/>
              <a:ahLst/>
              <a:cxnLst/>
              <a:rect r="r" b="b" t="t" l="l"/>
              <a:pathLst>
                <a:path h="6121400" w="5267960">
                  <a:moveTo>
                    <a:pt x="0" y="0"/>
                  </a:moveTo>
                  <a:lnTo>
                    <a:pt x="5267960" y="0"/>
                  </a:lnTo>
                  <a:lnTo>
                    <a:pt x="5267960" y="6121400"/>
                  </a:lnTo>
                  <a:lnTo>
                    <a:pt x="0" y="612140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88720" y="4754880"/>
            <a:ext cx="3291840" cy="914400"/>
            <a:chOff x="0" y="0"/>
            <a:chExt cx="438912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389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D4AF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" y="5760720"/>
            <a:ext cx="3383280" cy="640080"/>
            <a:chOff x="0" y="0"/>
            <a:chExt cx="451104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5110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 y costo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8720" y="6454140"/>
            <a:ext cx="338328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Probar control en un vehículo en vuelo puede terminar en una caída.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74539" y="4562475"/>
            <a:ext cx="3950970" cy="4591050"/>
            <a:chOff x="0" y="0"/>
            <a:chExt cx="5267960" cy="6121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67960" cy="6121400"/>
            </a:xfrm>
            <a:custGeom>
              <a:avLst/>
              <a:gdLst/>
              <a:ahLst/>
              <a:cxnLst/>
              <a:rect r="r" b="b" t="t" l="l"/>
              <a:pathLst>
                <a:path h="6121400" w="5267960">
                  <a:moveTo>
                    <a:pt x="0" y="0"/>
                  </a:moveTo>
                  <a:lnTo>
                    <a:pt x="5267960" y="0"/>
                  </a:lnTo>
                  <a:lnTo>
                    <a:pt x="5267960" y="6121400"/>
                  </a:lnTo>
                  <a:lnTo>
                    <a:pt x="0" y="612140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358384" y="4754880"/>
            <a:ext cx="3291840" cy="914400"/>
            <a:chOff x="0" y="0"/>
            <a:chExt cx="438912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389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D4AF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58384" y="5760720"/>
            <a:ext cx="3383280" cy="640080"/>
            <a:chOff x="0" y="0"/>
            <a:chExt cx="451104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5110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Planta no lineal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358384" y="6454140"/>
            <a:ext cx="338328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El empuje y la gravedad (seno del ángulo) hacen que una ganancia fija no rinda igual en todo el rango.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44203" y="4562475"/>
            <a:ext cx="3950970" cy="4591050"/>
            <a:chOff x="0" y="0"/>
            <a:chExt cx="5267960" cy="6121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67960" cy="6121400"/>
            </a:xfrm>
            <a:custGeom>
              <a:avLst/>
              <a:gdLst/>
              <a:ahLst/>
              <a:cxnLst/>
              <a:rect r="r" b="b" t="t" l="l"/>
              <a:pathLst>
                <a:path h="6121400" w="5267960">
                  <a:moveTo>
                    <a:pt x="0" y="0"/>
                  </a:moveTo>
                  <a:lnTo>
                    <a:pt x="5267960" y="0"/>
                  </a:lnTo>
                  <a:lnTo>
                    <a:pt x="5267960" y="6121400"/>
                  </a:lnTo>
                  <a:lnTo>
                    <a:pt x="0" y="612140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28048" y="4754880"/>
            <a:ext cx="3291840" cy="914400"/>
            <a:chOff x="0" y="0"/>
            <a:chExt cx="438912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389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D4AF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28048" y="5760720"/>
            <a:ext cx="3383280" cy="640080"/>
            <a:chOff x="0" y="0"/>
            <a:chExt cx="451104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45110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Sintonía sin banco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28048" y="6454140"/>
            <a:ext cx="338328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Sin una planta repetible, ajustar un PID es prueba y error.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413867" y="4562475"/>
            <a:ext cx="3950970" cy="4591050"/>
            <a:chOff x="0" y="0"/>
            <a:chExt cx="5267960" cy="6121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67960" cy="6121400"/>
            </a:xfrm>
            <a:custGeom>
              <a:avLst/>
              <a:gdLst/>
              <a:ahLst/>
              <a:cxnLst/>
              <a:rect r="r" b="b" t="t" l="l"/>
              <a:pathLst>
                <a:path h="6121400" w="5267960">
                  <a:moveTo>
                    <a:pt x="0" y="0"/>
                  </a:moveTo>
                  <a:lnTo>
                    <a:pt x="5267960" y="0"/>
                  </a:lnTo>
                  <a:lnTo>
                    <a:pt x="5267960" y="6121400"/>
                  </a:lnTo>
                  <a:lnTo>
                    <a:pt x="0" y="612140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697712" y="4754880"/>
            <a:ext cx="3291840" cy="914400"/>
            <a:chOff x="0" y="0"/>
            <a:chExt cx="438912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389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D4AF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97712" y="5760720"/>
            <a:ext cx="3383280" cy="640080"/>
            <a:chOff x="0" y="0"/>
            <a:chExt cx="45110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45110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 real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697712" y="6454140"/>
            <a:ext cx="338328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Muestreo fijo, saturación, antiwindup y ruido del sensor deben resolverse en el microcontrolador.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Aporte del aeropéndulo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377440"/>
            <a:ext cx="6583680" cy="548640"/>
            <a:chOff x="0" y="0"/>
            <a:chExt cx="87782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8E8E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2377440"/>
            <a:ext cx="6583680" cy="548640"/>
            <a:chOff x="0" y="0"/>
            <a:chExt cx="877824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APORTE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4875" y="3007995"/>
            <a:ext cx="7151370" cy="1043178"/>
            <a:chOff x="0" y="0"/>
            <a:chExt cx="9535160" cy="13909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35160" cy="1390904"/>
            </a:xfrm>
            <a:custGeom>
              <a:avLst/>
              <a:gdLst/>
              <a:ahLst/>
              <a:cxnLst/>
              <a:rect r="r" b="b" t="t" l="l"/>
              <a:pathLst>
                <a:path h="1390904" w="9535160">
                  <a:moveTo>
                    <a:pt x="0" y="0"/>
                  </a:moveTo>
                  <a:lnTo>
                    <a:pt x="9535160" y="0"/>
                  </a:lnTo>
                  <a:lnTo>
                    <a:pt x="9535160" y="1390904"/>
                  </a:lnTo>
                  <a:lnTo>
                    <a:pt x="0" y="1390904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" y="3017520"/>
            <a:ext cx="6583680" cy="1024128"/>
            <a:chOff x="0" y="0"/>
            <a:chExt cx="8778240" cy="13655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778240" cy="142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Riesgo al probar en vehículos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16903" y="3224279"/>
            <a:ext cx="756923" cy="610619"/>
            <a:chOff x="0" y="0"/>
            <a:chExt cx="1009231" cy="8141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9269" cy="814197"/>
            </a:xfrm>
            <a:custGeom>
              <a:avLst/>
              <a:gdLst/>
              <a:ahLst/>
              <a:cxnLst/>
              <a:rect r="r" b="b" t="t" l="l"/>
              <a:pathLst>
                <a:path h="814197" w="1009269">
                  <a:moveTo>
                    <a:pt x="0" y="203581"/>
                  </a:moveTo>
                  <a:lnTo>
                    <a:pt x="602107" y="203581"/>
                  </a:lnTo>
                  <a:lnTo>
                    <a:pt x="602107" y="0"/>
                  </a:lnTo>
                  <a:lnTo>
                    <a:pt x="1009269" y="407035"/>
                  </a:lnTo>
                  <a:lnTo>
                    <a:pt x="602107" y="814197"/>
                  </a:lnTo>
                  <a:lnTo>
                    <a:pt x="602107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134475" y="3007995"/>
            <a:ext cx="8248650" cy="1043178"/>
            <a:chOff x="0" y="0"/>
            <a:chExt cx="10998200" cy="13909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98200" cy="1390904"/>
            </a:xfrm>
            <a:custGeom>
              <a:avLst/>
              <a:gdLst/>
              <a:ahLst/>
              <a:cxnLst/>
              <a:rect r="r" b="b" t="t" l="l"/>
              <a:pathLst>
                <a:path h="1390904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1390904"/>
                  </a:lnTo>
                  <a:lnTo>
                    <a:pt x="0" y="1390904"/>
                  </a:lnTo>
                  <a:close/>
                </a:path>
              </a:pathLst>
            </a:custGeom>
            <a:solidFill>
              <a:srgbClr val="2A2A2E"/>
            </a:solid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18320" y="3017520"/>
            <a:ext cx="7680960" cy="1024128"/>
            <a:chOff x="0" y="0"/>
            <a:chExt cx="10241280" cy="13655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24128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Banco con movimiento restringido y pruebas repetibles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4875" y="4251579"/>
            <a:ext cx="7151370" cy="1043178"/>
            <a:chOff x="0" y="0"/>
            <a:chExt cx="9535160" cy="13909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35160" cy="1390904"/>
            </a:xfrm>
            <a:custGeom>
              <a:avLst/>
              <a:gdLst/>
              <a:ahLst/>
              <a:cxnLst/>
              <a:rect r="r" b="b" t="t" l="l"/>
              <a:pathLst>
                <a:path h="1390904" w="9535160">
                  <a:moveTo>
                    <a:pt x="0" y="0"/>
                  </a:moveTo>
                  <a:lnTo>
                    <a:pt x="9535160" y="0"/>
                  </a:lnTo>
                  <a:lnTo>
                    <a:pt x="9535160" y="1390904"/>
                  </a:lnTo>
                  <a:lnTo>
                    <a:pt x="0" y="1390904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" y="4261104"/>
            <a:ext cx="6583680" cy="1024128"/>
            <a:chOff x="0" y="0"/>
            <a:chExt cx="8778240" cy="1365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782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8778240" cy="142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Dinámica no lineal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16903" y="4467863"/>
            <a:ext cx="756923" cy="610619"/>
            <a:chOff x="0" y="0"/>
            <a:chExt cx="1009231" cy="8141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9269" cy="814197"/>
            </a:xfrm>
            <a:custGeom>
              <a:avLst/>
              <a:gdLst/>
              <a:ahLst/>
              <a:cxnLst/>
              <a:rect r="r" b="b" t="t" l="l"/>
              <a:pathLst>
                <a:path h="814197" w="1009269">
                  <a:moveTo>
                    <a:pt x="0" y="203581"/>
                  </a:moveTo>
                  <a:lnTo>
                    <a:pt x="602107" y="203581"/>
                  </a:lnTo>
                  <a:lnTo>
                    <a:pt x="602107" y="0"/>
                  </a:lnTo>
                  <a:lnTo>
                    <a:pt x="1009269" y="407035"/>
                  </a:lnTo>
                  <a:lnTo>
                    <a:pt x="602107" y="814197"/>
                  </a:lnTo>
                  <a:lnTo>
                    <a:pt x="602107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134475" y="4251579"/>
            <a:ext cx="8248650" cy="1043178"/>
            <a:chOff x="0" y="0"/>
            <a:chExt cx="10998200" cy="13909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98200" cy="1390904"/>
            </a:xfrm>
            <a:custGeom>
              <a:avLst/>
              <a:gdLst/>
              <a:ahLst/>
              <a:cxnLst/>
              <a:rect r="r" b="b" t="t" l="l"/>
              <a:pathLst>
                <a:path h="1390904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1390904"/>
                  </a:lnTo>
                  <a:lnTo>
                    <a:pt x="0" y="1390904"/>
                  </a:lnTo>
                  <a:close/>
                </a:path>
              </a:pathLst>
            </a:custGeom>
            <a:solidFill>
              <a:srgbClr val="2A2A2E"/>
            </a:solid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418320" y="4261104"/>
            <a:ext cx="7680960" cy="1024128"/>
            <a:chOff x="0" y="0"/>
            <a:chExt cx="10241280" cy="13655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24128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Planta física para identificar parámetros y comparar con simulación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4875" y="5495163"/>
            <a:ext cx="7151370" cy="1043178"/>
            <a:chOff x="0" y="0"/>
            <a:chExt cx="9535160" cy="13909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35160" cy="1390904"/>
            </a:xfrm>
            <a:custGeom>
              <a:avLst/>
              <a:gdLst/>
              <a:ahLst/>
              <a:cxnLst/>
              <a:rect r="r" b="b" t="t" l="l"/>
              <a:pathLst>
                <a:path h="1390904" w="9535160">
                  <a:moveTo>
                    <a:pt x="0" y="0"/>
                  </a:moveTo>
                  <a:lnTo>
                    <a:pt x="9535160" y="0"/>
                  </a:lnTo>
                  <a:lnTo>
                    <a:pt x="9535160" y="1390904"/>
                  </a:lnTo>
                  <a:lnTo>
                    <a:pt x="0" y="1390904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" y="5504688"/>
            <a:ext cx="6583680" cy="1024128"/>
            <a:chOff x="0" y="0"/>
            <a:chExt cx="8778240" cy="13655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778240" cy="142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Sintonía a prueba y error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16903" y="5711447"/>
            <a:ext cx="756923" cy="610619"/>
            <a:chOff x="0" y="0"/>
            <a:chExt cx="1009231" cy="8141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9269" cy="814197"/>
            </a:xfrm>
            <a:custGeom>
              <a:avLst/>
              <a:gdLst/>
              <a:ahLst/>
              <a:cxnLst/>
              <a:rect r="r" b="b" t="t" l="l"/>
              <a:pathLst>
                <a:path h="814197" w="1009269">
                  <a:moveTo>
                    <a:pt x="0" y="203581"/>
                  </a:moveTo>
                  <a:lnTo>
                    <a:pt x="602107" y="203581"/>
                  </a:lnTo>
                  <a:lnTo>
                    <a:pt x="602107" y="0"/>
                  </a:lnTo>
                  <a:lnTo>
                    <a:pt x="1009269" y="407035"/>
                  </a:lnTo>
                  <a:lnTo>
                    <a:pt x="602107" y="814197"/>
                  </a:lnTo>
                  <a:lnTo>
                    <a:pt x="602107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134475" y="5495163"/>
            <a:ext cx="8248650" cy="1043178"/>
            <a:chOff x="0" y="0"/>
            <a:chExt cx="10998200" cy="13909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98200" cy="1390904"/>
            </a:xfrm>
            <a:custGeom>
              <a:avLst/>
              <a:gdLst/>
              <a:ahLst/>
              <a:cxnLst/>
              <a:rect r="r" b="b" t="t" l="l"/>
              <a:pathLst>
                <a:path h="1390904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1390904"/>
                  </a:lnTo>
                  <a:lnTo>
                    <a:pt x="0" y="1390904"/>
                  </a:lnTo>
                  <a:close/>
                </a:path>
              </a:pathLst>
            </a:custGeom>
            <a:solidFill>
              <a:srgbClr val="2A2A2E"/>
            </a:solid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418320" y="5504688"/>
            <a:ext cx="7680960" cy="1024128"/>
            <a:chOff x="0" y="0"/>
            <a:chExt cx="10241280" cy="13655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24128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Escalones, perturbaciones y datos por UART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4875" y="6738747"/>
            <a:ext cx="7151370" cy="1043178"/>
            <a:chOff x="0" y="0"/>
            <a:chExt cx="9535160" cy="13909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35160" cy="1390904"/>
            </a:xfrm>
            <a:custGeom>
              <a:avLst/>
              <a:gdLst/>
              <a:ahLst/>
              <a:cxnLst/>
              <a:rect r="r" b="b" t="t" l="l"/>
              <a:pathLst>
                <a:path h="1390904" w="9535160">
                  <a:moveTo>
                    <a:pt x="0" y="0"/>
                  </a:moveTo>
                  <a:lnTo>
                    <a:pt x="9535160" y="0"/>
                  </a:lnTo>
                  <a:lnTo>
                    <a:pt x="9535160" y="1390904"/>
                  </a:lnTo>
                  <a:lnTo>
                    <a:pt x="0" y="1390904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88720" y="6748272"/>
            <a:ext cx="6583680" cy="1024128"/>
            <a:chOff x="0" y="0"/>
            <a:chExt cx="8778240" cy="13655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78240" cy="1365504"/>
            </a:xfrm>
            <a:custGeom>
              <a:avLst/>
              <a:gdLst/>
              <a:ahLst/>
              <a:cxnLst/>
              <a:rect r="r" b="b" t="t" l="l"/>
              <a:pathLst>
                <a:path h="136550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8778240" cy="142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Implementación en tiempo real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16903" y="6955031"/>
            <a:ext cx="756923" cy="610619"/>
            <a:chOff x="0" y="0"/>
            <a:chExt cx="1009231" cy="81415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9269" cy="814197"/>
            </a:xfrm>
            <a:custGeom>
              <a:avLst/>
              <a:gdLst/>
              <a:ahLst/>
              <a:cxnLst/>
              <a:rect r="r" b="b" t="t" l="l"/>
              <a:pathLst>
                <a:path h="814197" w="1009269">
                  <a:moveTo>
                    <a:pt x="0" y="203581"/>
                  </a:moveTo>
                  <a:lnTo>
                    <a:pt x="602107" y="203581"/>
                  </a:lnTo>
                  <a:lnTo>
                    <a:pt x="602107" y="0"/>
                  </a:lnTo>
                  <a:lnTo>
                    <a:pt x="1009269" y="407035"/>
                  </a:lnTo>
                  <a:lnTo>
                    <a:pt x="602107" y="814197"/>
                  </a:lnTo>
                  <a:lnTo>
                    <a:pt x="602107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134475" y="6738747"/>
            <a:ext cx="8248650" cy="1043178"/>
            <a:chOff x="0" y="0"/>
            <a:chExt cx="10998200" cy="13909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98200" cy="1390904"/>
            </a:xfrm>
            <a:custGeom>
              <a:avLst/>
              <a:gdLst/>
              <a:ahLst/>
              <a:cxnLst/>
              <a:rect r="r" b="b" t="t" l="l"/>
              <a:pathLst>
                <a:path h="1390904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1390904"/>
                  </a:lnTo>
                  <a:lnTo>
                    <a:pt x="0" y="1390904"/>
                  </a:lnTo>
                  <a:close/>
                </a:path>
              </a:pathLst>
            </a:custGeom>
            <a:solidFill>
              <a:srgbClr val="2A2A2E"/>
            </a:solidFill>
            <a:ln w="1905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418320" y="6748272"/>
            <a:ext cx="7680960" cy="1024128"/>
            <a:chOff x="0" y="0"/>
            <a:chExt cx="10241280" cy="13655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4128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Firmware STM32: timer de muestreo, PWM, PID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1703" y="8125463"/>
            <a:ext cx="16484603" cy="1214123"/>
            <a:chOff x="0" y="0"/>
            <a:chExt cx="21979471" cy="16188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795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80160" y="8138160"/>
            <a:ext cx="15727680" cy="1188720"/>
            <a:chOff x="0" y="0"/>
            <a:chExt cx="20970240" cy="1584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9702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802" r="0" b="-20780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097024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general: </a:t>
              </a:r>
              <a:r>
                <a:rPr lang="en-US" sz="24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diseñar, construir y controlar un aeropéndulo de dos hélices con PID en un STM32, con seguimiento de referencia y rechazo de perturbaciones.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 planta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8522" y="2361562"/>
            <a:ext cx="7895587" cy="6798307"/>
            <a:chOff x="0" y="0"/>
            <a:chExt cx="10527449" cy="90644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27411" cy="9064371"/>
            </a:xfrm>
            <a:custGeom>
              <a:avLst/>
              <a:gdLst/>
              <a:ahLst/>
              <a:cxnLst/>
              <a:rect r="r" b="b" t="t" l="l"/>
              <a:pathLst>
                <a:path h="9064371" w="10527411">
                  <a:moveTo>
                    <a:pt x="0" y="0"/>
                  </a:moveTo>
                  <a:lnTo>
                    <a:pt x="10527411" y="0"/>
                  </a:lnTo>
                  <a:lnTo>
                    <a:pt x="10527411" y="9064371"/>
                  </a:lnTo>
                  <a:lnTo>
                    <a:pt x="0" y="9064371"/>
                  </a:lnTo>
                  <a:close/>
                </a:path>
              </a:pathLst>
            </a:custGeom>
            <a:solidFill>
              <a:srgbClr val="1C1C1F"/>
            </a:solidFill>
            <a:ln w="31750" cap="sq">
              <a:solidFill>
                <a:srgbClr val="D4AF37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5212080"/>
            <a:ext cx="7498080" cy="1097280"/>
            <a:chOff x="0" y="0"/>
            <a:chExt cx="999744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97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997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[Foto de la planta completa]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28122" y="2361562"/>
            <a:ext cx="3963667" cy="3323587"/>
            <a:chOff x="0" y="0"/>
            <a:chExt cx="5284889" cy="44314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84851" cy="4431411"/>
            </a:xfrm>
            <a:custGeom>
              <a:avLst/>
              <a:gdLst/>
              <a:ahLst/>
              <a:cxnLst/>
              <a:rect r="r" b="b" t="t" l="l"/>
              <a:pathLst>
                <a:path h="4431411" w="5284851">
                  <a:moveTo>
                    <a:pt x="0" y="0"/>
                  </a:moveTo>
                  <a:lnTo>
                    <a:pt x="5284851" y="0"/>
                  </a:lnTo>
                  <a:lnTo>
                    <a:pt x="5284851" y="4431411"/>
                  </a:lnTo>
                  <a:lnTo>
                    <a:pt x="0" y="4431411"/>
                  </a:lnTo>
                  <a:close/>
                </a:path>
              </a:pathLst>
            </a:custGeom>
            <a:solidFill>
              <a:srgbClr val="1C1C1F"/>
            </a:solidFill>
            <a:ln w="31750" cap="sq">
              <a:solidFill>
                <a:srgbClr val="D4AF37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326880" y="3474720"/>
            <a:ext cx="3566160" cy="1097280"/>
            <a:chOff x="0" y="0"/>
            <a:chExt cx="475488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7548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[Foto: motor + hélice]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25802" y="2361562"/>
            <a:ext cx="3963667" cy="3323587"/>
            <a:chOff x="0" y="0"/>
            <a:chExt cx="5284889" cy="44314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84851" cy="4431411"/>
            </a:xfrm>
            <a:custGeom>
              <a:avLst/>
              <a:gdLst/>
              <a:ahLst/>
              <a:cxnLst/>
              <a:rect r="r" b="b" t="t" l="l"/>
              <a:pathLst>
                <a:path h="4431411" w="5284851">
                  <a:moveTo>
                    <a:pt x="0" y="0"/>
                  </a:moveTo>
                  <a:lnTo>
                    <a:pt x="5284851" y="0"/>
                  </a:lnTo>
                  <a:lnTo>
                    <a:pt x="5284851" y="4431411"/>
                  </a:lnTo>
                  <a:lnTo>
                    <a:pt x="0" y="4431411"/>
                  </a:lnTo>
                  <a:close/>
                </a:path>
              </a:pathLst>
            </a:custGeom>
            <a:solidFill>
              <a:srgbClr val="1C1C1F"/>
            </a:solidFill>
            <a:ln w="31750" cap="sq">
              <a:solidFill>
                <a:srgbClr val="D4AF37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624560" y="3474720"/>
            <a:ext cx="3566160" cy="1097280"/>
            <a:chOff x="0" y="0"/>
            <a:chExt cx="475488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7548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[Foto: sensor de ángulo]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34475" y="6025515"/>
            <a:ext cx="8248650" cy="3128010"/>
            <a:chOff x="0" y="0"/>
            <a:chExt cx="10998200" cy="4170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98200" cy="4170680"/>
            </a:xfrm>
            <a:custGeom>
              <a:avLst/>
              <a:gdLst/>
              <a:ahLst/>
              <a:cxnLst/>
              <a:rect r="r" b="b" t="t" l="l"/>
              <a:pathLst>
                <a:path h="4170680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4170680"/>
                  </a:lnTo>
                  <a:lnTo>
                    <a:pt x="0" y="417068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0" y="6217920"/>
            <a:ext cx="7315200" cy="457200"/>
            <a:chOff x="0" y="0"/>
            <a:chExt cx="975360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FICHA DE LA PLANTA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509760" y="6728460"/>
            <a:ext cx="749808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Brazo pivotante con 2 hélices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Sensor de ángulo: [modelo]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Motores / ESC: [modelo]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Alimentación: [voltaje]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bloques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821943"/>
            <a:ext cx="2768603" cy="1397003"/>
            <a:chOff x="0" y="0"/>
            <a:chExt cx="3691471" cy="1862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9150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691509">
                  <a:moveTo>
                    <a:pt x="0" y="0"/>
                  </a:moveTo>
                  <a:lnTo>
                    <a:pt x="3691509" y="0"/>
                  </a:lnTo>
                  <a:lnTo>
                    <a:pt x="369150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834640"/>
            <a:ext cx="2560320" cy="1371600"/>
            <a:chOff x="0" y="0"/>
            <a:chExt cx="341376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1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41376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botones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(entradas digitales)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5016503"/>
            <a:ext cx="2768603" cy="1397003"/>
            <a:chOff x="0" y="0"/>
            <a:chExt cx="3691471" cy="18626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9150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691509">
                  <a:moveTo>
                    <a:pt x="0" y="0"/>
                  </a:moveTo>
                  <a:lnTo>
                    <a:pt x="3691509" y="0"/>
                  </a:lnTo>
                  <a:lnTo>
                    <a:pt x="369150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5029200"/>
            <a:ext cx="2560320" cy="1371600"/>
            <a:chOff x="0" y="0"/>
            <a:chExt cx="341376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41376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Referencia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(ángulo deseado)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46597" y="2534917"/>
            <a:ext cx="5537197" cy="4348477"/>
            <a:chOff x="0" y="0"/>
            <a:chExt cx="7382929" cy="57979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82891" cy="5797931"/>
            </a:xfrm>
            <a:custGeom>
              <a:avLst/>
              <a:gdLst/>
              <a:ahLst/>
              <a:cxnLst/>
              <a:rect r="r" b="b" t="t" l="l"/>
              <a:pathLst>
                <a:path h="5797931" w="7382891">
                  <a:moveTo>
                    <a:pt x="0" y="0"/>
                  </a:moveTo>
                  <a:lnTo>
                    <a:pt x="7382891" y="0"/>
                  </a:lnTo>
                  <a:lnTo>
                    <a:pt x="7382891" y="5797931"/>
                  </a:lnTo>
                  <a:lnTo>
                    <a:pt x="0" y="5797931"/>
                  </a:lnTo>
                  <a:close/>
                </a:path>
              </a:pathLst>
            </a:custGeom>
            <a:solidFill>
              <a:srgbClr val="2A2A2E"/>
            </a:solidFill>
            <a:ln w="508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572000" y="2651760"/>
            <a:ext cx="5486400" cy="731520"/>
            <a:chOff x="0" y="0"/>
            <a:chExt cx="731520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7315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D4AF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STM32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25063" y="3553463"/>
            <a:ext cx="4780283" cy="848363"/>
            <a:chOff x="0" y="0"/>
            <a:chExt cx="6373711" cy="11311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73749" cy="1131189"/>
            </a:xfrm>
            <a:custGeom>
              <a:avLst/>
              <a:gdLst/>
              <a:ahLst/>
              <a:cxnLst/>
              <a:rect r="r" b="b" t="t" l="l"/>
              <a:pathLst>
                <a:path h="1131189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029200" y="3566160"/>
            <a:ext cx="4572000" cy="822960"/>
            <a:chOff x="0" y="0"/>
            <a:chExt cx="609600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096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Lectura de sensor + filtro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925063" y="4559303"/>
            <a:ext cx="4780283" cy="848363"/>
            <a:chOff x="0" y="0"/>
            <a:chExt cx="6373711" cy="11311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73749" cy="1131189"/>
            </a:xfrm>
            <a:custGeom>
              <a:avLst/>
              <a:gdLst/>
              <a:ahLst/>
              <a:cxnLst/>
              <a:rect r="r" b="b" t="t" l="l"/>
              <a:pathLst>
                <a:path h="1131189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F0D77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029200" y="4572000"/>
            <a:ext cx="4572000" cy="822960"/>
            <a:chOff x="0" y="0"/>
            <a:chExt cx="609600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0960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Controlador PID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925063" y="5565143"/>
            <a:ext cx="4780283" cy="848363"/>
            <a:chOff x="0" y="0"/>
            <a:chExt cx="6373711" cy="11311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73749" cy="1131189"/>
            </a:xfrm>
            <a:custGeom>
              <a:avLst/>
              <a:gdLst/>
              <a:ahLst/>
              <a:cxnLst/>
              <a:rect r="r" b="b" t="t" l="l"/>
              <a:pathLst>
                <a:path h="1131189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029200" y="5577840"/>
            <a:ext cx="4572000" cy="822960"/>
            <a:chOff x="0" y="0"/>
            <a:chExt cx="609600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096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Timer PWM (2 canales)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42983" y="2547623"/>
            <a:ext cx="2494283" cy="1397003"/>
            <a:chOff x="0" y="0"/>
            <a:chExt cx="3325711" cy="18626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2574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247120" y="2560320"/>
            <a:ext cx="2286000" cy="1371600"/>
            <a:chOff x="0" y="0"/>
            <a:chExt cx="3048000" cy="1828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48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0480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 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142983" y="4284983"/>
            <a:ext cx="2494283" cy="1397003"/>
            <a:chOff x="0" y="0"/>
            <a:chExt cx="3325711" cy="18626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25749" cy="1862709"/>
            </a:xfrm>
            <a:custGeom>
              <a:avLst/>
              <a:gdLst/>
              <a:ahLst/>
              <a:cxnLst/>
              <a:rect r="r" b="b" t="t" l="l"/>
              <a:pathLst>
                <a:path h="1862709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247120" y="4297680"/>
            <a:ext cx="2286000" cy="1371600"/>
            <a:chOff x="0" y="0"/>
            <a:chExt cx="3048000" cy="1828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48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0480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 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251943" y="2547623"/>
            <a:ext cx="3225803" cy="3134363"/>
            <a:chOff x="0" y="0"/>
            <a:chExt cx="4301071" cy="417915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01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4301109">
                  <a:moveTo>
                    <a:pt x="0" y="0"/>
                  </a:moveTo>
                  <a:lnTo>
                    <a:pt x="4301109" y="0"/>
                  </a:lnTo>
                  <a:lnTo>
                    <a:pt x="4301109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356080" y="2560320"/>
            <a:ext cx="3017520" cy="3108960"/>
            <a:chOff x="0" y="0"/>
            <a:chExt cx="4023360" cy="4145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233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145280"/>
                  </a:lnTo>
                  <a:lnTo>
                    <a:pt x="0" y="4145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191" t="0" r="-8219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023360" cy="4183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Motores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hélices</a:t>
              </a:r>
            </a:p>
            <a:p>
              <a:pPr algn="ctr">
                <a:lnSpc>
                  <a:spcPts val="2879"/>
                </a:lnSpc>
              </a:pP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Brazo del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aeropéndulo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251943" y="6753863"/>
            <a:ext cx="3225803" cy="1397003"/>
            <a:chOff x="0" y="0"/>
            <a:chExt cx="4301071" cy="18626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01109" cy="1862709"/>
            </a:xfrm>
            <a:custGeom>
              <a:avLst/>
              <a:gdLst/>
              <a:ahLst/>
              <a:cxnLst/>
              <a:rect r="r" b="b" t="t" l="l"/>
              <a:pathLst>
                <a:path h="1862709" w="4301109">
                  <a:moveTo>
                    <a:pt x="0" y="0"/>
                  </a:moveTo>
                  <a:lnTo>
                    <a:pt x="4301109" y="0"/>
                  </a:lnTo>
                  <a:lnTo>
                    <a:pt x="430110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356080" y="6766560"/>
            <a:ext cx="3017520" cy="1371600"/>
            <a:chOff x="0" y="0"/>
            <a:chExt cx="4023360" cy="182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23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233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Sensor de ángulo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816103" y="7851143"/>
            <a:ext cx="6609083" cy="1122683"/>
            <a:chOff x="0" y="0"/>
            <a:chExt cx="8812111" cy="149691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812149" cy="1496949"/>
            </a:xfrm>
            <a:custGeom>
              <a:avLst/>
              <a:gdLst/>
              <a:ahLst/>
              <a:cxnLst/>
              <a:rect r="r" b="b" t="t" l="l"/>
              <a:pathLst>
                <a:path h="1496949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8E8E9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920240" y="7863840"/>
            <a:ext cx="6400800" cy="1097280"/>
            <a:chOff x="0" y="0"/>
            <a:chExt cx="8534400" cy="1463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34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534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PC: telemetría y gráficas (UART)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1174860">
            <a:off x="3420828" y="3648075"/>
            <a:ext cx="1205065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 rot="-2047860">
            <a:off x="3337541" y="5293995"/>
            <a:ext cx="1371638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 rot="-4043519">
            <a:off x="9130341" y="4626483"/>
            <a:ext cx="2953398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6" id="66"/>
          <p:cNvSpPr/>
          <p:nvPr/>
        </p:nvSpPr>
        <p:spPr>
          <a:xfrm rot="-2555820">
            <a:off x="9835858" y="5467731"/>
            <a:ext cx="1542364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7" id="67"/>
          <p:cNvSpPr/>
          <p:nvPr/>
        </p:nvSpPr>
        <p:spPr>
          <a:xfrm rot="192900">
            <a:off x="13604977" y="3282315"/>
            <a:ext cx="679247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8" id="68"/>
          <p:cNvSpPr/>
          <p:nvPr/>
        </p:nvSpPr>
        <p:spPr>
          <a:xfrm rot="192900">
            <a:off x="13604977" y="4964811"/>
            <a:ext cx="679247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9" id="69"/>
          <p:cNvSpPr/>
          <p:nvPr/>
        </p:nvSpPr>
        <p:spPr>
          <a:xfrm rot="5284680">
            <a:off x="15287682" y="6208395"/>
            <a:ext cx="1136018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0" id="70"/>
          <p:cNvSpPr/>
          <p:nvPr/>
        </p:nvSpPr>
        <p:spPr>
          <a:xfrm rot="10774620">
            <a:off x="9124883" y="7442835"/>
            <a:ext cx="5158883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rot="-5193180">
            <a:off x="8827198" y="7145655"/>
            <a:ext cx="633603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2" id="72"/>
          <p:cNvGrpSpPr/>
          <p:nvPr/>
        </p:nvGrpSpPr>
        <p:grpSpPr>
          <a:xfrm rot="0">
            <a:off x="9509760" y="7589520"/>
            <a:ext cx="4572000" cy="457200"/>
            <a:chOff x="0" y="0"/>
            <a:chExt cx="609600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960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D4AF3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retroalimentación del ángulo</a:t>
              </a:r>
            </a:p>
          </p:txBody>
        </p:sp>
      </p:grpSp>
      <p:sp>
        <p:nvSpPr>
          <p:cNvPr name="AutoShape 75" id="75"/>
          <p:cNvSpPr/>
          <p:nvPr/>
        </p:nvSpPr>
        <p:spPr>
          <a:xfrm rot="5274600">
            <a:off x="4964087" y="7351395"/>
            <a:ext cx="1044635" cy="0"/>
          </a:xfrm>
          <a:prstGeom prst="line">
            <a:avLst/>
          </a:prstGeom>
          <a:ln cap="rnd" w="19050">
            <a:solidFill>
              <a:srgbClr val="F0D77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6" id="76"/>
          <p:cNvGrpSpPr/>
          <p:nvPr/>
        </p:nvGrpSpPr>
        <p:grpSpPr>
          <a:xfrm rot="0">
            <a:off x="9509760" y="8412480"/>
            <a:ext cx="7863840" cy="548640"/>
            <a:chOff x="0" y="0"/>
            <a:chExt cx="1048512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0485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Cumple el mínimo: 2 salidas PWM y 2 entradas digitales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Estrategia de control y firmware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377440"/>
            <a:ext cx="7680960" cy="548640"/>
            <a:chOff x="0" y="0"/>
            <a:chExt cx="102412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LAZO EN INTERRUPCIÓN DE TIMER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3169415"/>
            <a:ext cx="793499" cy="793499"/>
            <a:chOff x="0" y="0"/>
            <a:chExt cx="1057999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3182112"/>
            <a:ext cx="768096" cy="768096"/>
            <a:chOff x="0" y="0"/>
            <a:chExt cx="1024128" cy="10241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0B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11680" y="3108960"/>
            <a:ext cx="6583680" cy="914400"/>
            <a:chOff x="0" y="0"/>
            <a:chExt cx="877824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7782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Leer ángulo y filtrar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1703" y="4376423"/>
            <a:ext cx="793499" cy="793499"/>
            <a:chOff x="0" y="0"/>
            <a:chExt cx="1057999" cy="10579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4389120"/>
            <a:ext cx="768096" cy="768096"/>
            <a:chOff x="0" y="0"/>
            <a:chExt cx="1024128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0B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011680" y="4315968"/>
            <a:ext cx="6583680" cy="914400"/>
            <a:chOff x="0" y="0"/>
            <a:chExt cx="877824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7782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 = referencia − ángulo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1703" y="5583431"/>
            <a:ext cx="793499" cy="793499"/>
            <a:chOff x="0" y="0"/>
            <a:chExt cx="1057999" cy="10579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5596128"/>
            <a:ext cx="768096" cy="768096"/>
            <a:chOff x="0" y="0"/>
            <a:chExt cx="1024128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0B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11680" y="5522976"/>
            <a:ext cx="6583680" cy="914400"/>
            <a:chOff x="0" y="0"/>
            <a:chExt cx="877824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87782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PID con antiwindup y filtro derivativo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6790439"/>
            <a:ext cx="793499" cy="793499"/>
            <a:chOff x="0" y="0"/>
            <a:chExt cx="1057999" cy="10579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6803136"/>
            <a:ext cx="768096" cy="768096"/>
            <a:chOff x="0" y="0"/>
            <a:chExt cx="1024128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0B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11680" y="6729984"/>
            <a:ext cx="6583680" cy="914400"/>
            <a:chOff x="0" y="0"/>
            <a:chExt cx="877824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7782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Saturar y escribir PWM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1703" y="7997447"/>
            <a:ext cx="793499" cy="793499"/>
            <a:chOff x="0" y="0"/>
            <a:chExt cx="1057999" cy="10579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" y="8010144"/>
            <a:ext cx="768096" cy="768096"/>
            <a:chOff x="0" y="0"/>
            <a:chExt cx="1024128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0B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11680" y="7936992"/>
            <a:ext cx="6583680" cy="914400"/>
            <a:chOff x="0" y="0"/>
            <a:chExt cx="877824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87782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Enviar telemetría por UART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09760" y="2377440"/>
            <a:ext cx="7680960" cy="548640"/>
            <a:chOff x="0" y="0"/>
            <a:chExt cx="1024128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NIVELES DE COMPLEJIDAD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00235" y="3099435"/>
            <a:ext cx="7882890" cy="1756410"/>
            <a:chOff x="0" y="0"/>
            <a:chExt cx="10510520" cy="23418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510520" cy="2341880"/>
            </a:xfrm>
            <a:custGeom>
              <a:avLst/>
              <a:gdLst/>
              <a:ahLst/>
              <a:cxnLst/>
              <a:rect r="r" b="b" t="t" l="l"/>
              <a:pathLst>
                <a:path h="2341880" w="10510520">
                  <a:moveTo>
                    <a:pt x="0" y="0"/>
                  </a:moveTo>
                  <a:lnTo>
                    <a:pt x="10510520" y="0"/>
                  </a:lnTo>
                  <a:lnTo>
                    <a:pt x="10510520" y="2341880"/>
                  </a:lnTo>
                  <a:lnTo>
                    <a:pt x="0" y="234188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875520" y="3291840"/>
            <a:ext cx="7132320" cy="548640"/>
            <a:chOff x="0" y="0"/>
            <a:chExt cx="95097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509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875520" y="3838956"/>
            <a:ext cx="713232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PID de ángulo, 2 PWM + 2 entradas digitales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500235" y="5111115"/>
            <a:ext cx="7882890" cy="1756410"/>
            <a:chOff x="0" y="0"/>
            <a:chExt cx="10510520" cy="23418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510520" cy="2341880"/>
            </a:xfrm>
            <a:custGeom>
              <a:avLst/>
              <a:gdLst/>
              <a:ahLst/>
              <a:cxnLst/>
              <a:rect r="r" b="b" t="t" l="l"/>
              <a:pathLst>
                <a:path h="2341880" w="10510520">
                  <a:moveTo>
                    <a:pt x="0" y="0"/>
                  </a:moveTo>
                  <a:lnTo>
                    <a:pt x="10510520" y="0"/>
                  </a:lnTo>
                  <a:lnTo>
                    <a:pt x="10510520" y="2341880"/>
                  </a:lnTo>
                  <a:lnTo>
                    <a:pt x="0" y="234188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875520" y="5303520"/>
            <a:ext cx="7132320" cy="548640"/>
            <a:chOff x="0" y="0"/>
            <a:chExt cx="950976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9509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Intermedio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9875520" y="5850636"/>
            <a:ext cx="713232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Referencias variables, telemetría, modelo y simulación vs planta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493882" y="7116442"/>
            <a:ext cx="7895587" cy="1769107"/>
            <a:chOff x="0" y="0"/>
            <a:chExt cx="10527449" cy="235880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527411" cy="2358771"/>
            </a:xfrm>
            <a:custGeom>
              <a:avLst/>
              <a:gdLst/>
              <a:ahLst/>
              <a:cxnLst/>
              <a:rect r="r" b="b" t="t" l="l"/>
              <a:pathLst>
                <a:path h="2358771" w="10527411">
                  <a:moveTo>
                    <a:pt x="0" y="0"/>
                  </a:moveTo>
                  <a:lnTo>
                    <a:pt x="10527411" y="0"/>
                  </a:lnTo>
                  <a:lnTo>
                    <a:pt x="10527411" y="2358771"/>
                  </a:lnTo>
                  <a:lnTo>
                    <a:pt x="0" y="2358771"/>
                  </a:lnTo>
                  <a:close/>
                </a:path>
              </a:pathLst>
            </a:custGeom>
            <a:solidFill>
              <a:srgbClr val="1C1C1F"/>
            </a:solidFill>
            <a:ln w="3175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875520" y="7315200"/>
            <a:ext cx="7132320" cy="548640"/>
            <a:chOff x="0" y="0"/>
            <a:chExt cx="950976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9509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Avanzado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875520" y="7862316"/>
            <a:ext cx="713232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C9CE"/>
                </a:solidFill>
                <a:latin typeface="Calibri (MS)"/>
                <a:ea typeface="Calibri (MS)"/>
                <a:cs typeface="Calibri (MS)"/>
                <a:sym typeface="Calibri (MS)"/>
              </a:rPr>
              <a:t>Cascada con IMU, perturbación inyectada, ajuste automático o LQR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Cronograma (Gantt)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73703" y="2456183"/>
            <a:ext cx="1511303" cy="610619"/>
            <a:chOff x="0" y="0"/>
            <a:chExt cx="2015071" cy="814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5109" cy="814197"/>
            </a:xfrm>
            <a:custGeom>
              <a:avLst/>
              <a:gdLst/>
              <a:ahLst/>
              <a:cxnLst/>
              <a:rect r="r" b="b" t="t" l="l"/>
              <a:pathLst>
                <a:path h="814197" w="2015109">
                  <a:moveTo>
                    <a:pt x="0" y="0"/>
                  </a:moveTo>
                  <a:lnTo>
                    <a:pt x="2015109" y="0"/>
                  </a:lnTo>
                  <a:lnTo>
                    <a:pt x="201510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A2A2E"/>
            </a:solidFill>
            <a:ln w="254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0" y="2468880"/>
            <a:ext cx="1485900" cy="585216"/>
            <a:chOff x="0" y="0"/>
            <a:chExt cx="1981200" cy="780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" t="0" r="-53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8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59603" y="2456183"/>
            <a:ext cx="1511303" cy="610619"/>
            <a:chOff x="0" y="0"/>
            <a:chExt cx="2015071" cy="8141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5109" cy="814197"/>
            </a:xfrm>
            <a:custGeom>
              <a:avLst/>
              <a:gdLst/>
              <a:ahLst/>
              <a:cxnLst/>
              <a:rect r="r" b="b" t="t" l="l"/>
              <a:pathLst>
                <a:path h="814197" w="2015109">
                  <a:moveTo>
                    <a:pt x="0" y="0"/>
                  </a:moveTo>
                  <a:lnTo>
                    <a:pt x="2015109" y="0"/>
                  </a:lnTo>
                  <a:lnTo>
                    <a:pt x="201510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A2A2E"/>
            </a:solidFill>
            <a:ln w="254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972300" y="2468880"/>
            <a:ext cx="1485900" cy="585216"/>
            <a:chOff x="0" y="0"/>
            <a:chExt cx="1981200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" t="0" r="-53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8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445503" y="2456183"/>
            <a:ext cx="1511303" cy="610619"/>
            <a:chOff x="0" y="0"/>
            <a:chExt cx="2015071" cy="8141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5109" cy="814197"/>
            </a:xfrm>
            <a:custGeom>
              <a:avLst/>
              <a:gdLst/>
              <a:ahLst/>
              <a:cxnLst/>
              <a:rect r="r" b="b" t="t" l="l"/>
              <a:pathLst>
                <a:path h="814197" w="2015109">
                  <a:moveTo>
                    <a:pt x="0" y="0"/>
                  </a:moveTo>
                  <a:lnTo>
                    <a:pt x="2015109" y="0"/>
                  </a:lnTo>
                  <a:lnTo>
                    <a:pt x="201510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A2A2E"/>
            </a:solidFill>
            <a:ln w="254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458200" y="2468880"/>
            <a:ext cx="1485900" cy="585216"/>
            <a:chOff x="0" y="0"/>
            <a:chExt cx="198120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" t="0" r="-53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31403" y="2456183"/>
            <a:ext cx="1511303" cy="610619"/>
            <a:chOff x="0" y="0"/>
            <a:chExt cx="2015071" cy="8141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5109" cy="814197"/>
            </a:xfrm>
            <a:custGeom>
              <a:avLst/>
              <a:gdLst/>
              <a:ahLst/>
              <a:cxnLst/>
              <a:rect r="r" b="b" t="t" l="l"/>
              <a:pathLst>
                <a:path h="814197" w="2015109">
                  <a:moveTo>
                    <a:pt x="0" y="0"/>
                  </a:moveTo>
                  <a:lnTo>
                    <a:pt x="2015109" y="0"/>
                  </a:lnTo>
                  <a:lnTo>
                    <a:pt x="201510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A2A2E"/>
            </a:solidFill>
            <a:ln w="254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944100" y="2468880"/>
            <a:ext cx="1485900" cy="585216"/>
            <a:chOff x="0" y="0"/>
            <a:chExt cx="1981200" cy="7802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8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" t="0" r="-53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8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17303" y="2456183"/>
            <a:ext cx="1511303" cy="610619"/>
            <a:chOff x="0" y="0"/>
            <a:chExt cx="2015071" cy="8141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5109" cy="814197"/>
            </a:xfrm>
            <a:custGeom>
              <a:avLst/>
              <a:gdLst/>
              <a:ahLst/>
              <a:cxnLst/>
              <a:rect r="r" b="b" t="t" l="l"/>
              <a:pathLst>
                <a:path h="814197" w="2015109">
                  <a:moveTo>
                    <a:pt x="0" y="0"/>
                  </a:moveTo>
                  <a:lnTo>
                    <a:pt x="2015109" y="0"/>
                  </a:lnTo>
                  <a:lnTo>
                    <a:pt x="201510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A2A2E"/>
            </a:solidFill>
            <a:ln w="254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430000" y="2468880"/>
            <a:ext cx="1485900" cy="585216"/>
            <a:chOff x="0" y="0"/>
            <a:chExt cx="1981200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8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" t="0" r="-53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98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S5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903203" y="2456183"/>
            <a:ext cx="1511303" cy="610619"/>
            <a:chOff x="0" y="0"/>
            <a:chExt cx="2015071" cy="8141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15109" cy="814197"/>
            </a:xfrm>
            <a:custGeom>
              <a:avLst/>
              <a:gdLst/>
              <a:ahLst/>
              <a:cxnLst/>
              <a:rect r="r" b="b" t="t" l="l"/>
              <a:pathLst>
                <a:path h="814197" w="2015109">
                  <a:moveTo>
                    <a:pt x="0" y="0"/>
                  </a:moveTo>
                  <a:lnTo>
                    <a:pt x="2015109" y="0"/>
                  </a:lnTo>
                  <a:lnTo>
                    <a:pt x="201510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A2A2E"/>
            </a:solidFill>
            <a:ln w="254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915900" y="2468880"/>
            <a:ext cx="1485900" cy="585216"/>
            <a:chOff x="0" y="0"/>
            <a:chExt cx="1981200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8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" t="0" r="-53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8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389103" y="2456183"/>
            <a:ext cx="1511303" cy="610619"/>
            <a:chOff x="0" y="0"/>
            <a:chExt cx="2015071" cy="8141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5109" cy="814197"/>
            </a:xfrm>
            <a:custGeom>
              <a:avLst/>
              <a:gdLst/>
              <a:ahLst/>
              <a:cxnLst/>
              <a:rect r="r" b="b" t="t" l="l"/>
              <a:pathLst>
                <a:path h="814197" w="2015109">
                  <a:moveTo>
                    <a:pt x="0" y="0"/>
                  </a:moveTo>
                  <a:lnTo>
                    <a:pt x="2015109" y="0"/>
                  </a:lnTo>
                  <a:lnTo>
                    <a:pt x="201510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A2A2E"/>
            </a:solidFill>
            <a:ln w="254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401800" y="2468880"/>
            <a:ext cx="1485900" cy="585216"/>
            <a:chOff x="0" y="0"/>
            <a:chExt cx="1981200" cy="780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8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" t="0" r="-53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98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S7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875003" y="2456183"/>
            <a:ext cx="1511303" cy="610619"/>
            <a:chOff x="0" y="0"/>
            <a:chExt cx="2015071" cy="8141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5109" cy="814197"/>
            </a:xfrm>
            <a:custGeom>
              <a:avLst/>
              <a:gdLst/>
              <a:ahLst/>
              <a:cxnLst/>
              <a:rect r="r" b="b" t="t" l="l"/>
              <a:pathLst>
                <a:path h="814197" w="2015109">
                  <a:moveTo>
                    <a:pt x="0" y="0"/>
                  </a:moveTo>
                  <a:lnTo>
                    <a:pt x="2015109" y="0"/>
                  </a:lnTo>
                  <a:lnTo>
                    <a:pt x="201510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A2A2E"/>
            </a:solidFill>
            <a:ln w="254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5887700" y="2468880"/>
            <a:ext cx="1485900" cy="585216"/>
            <a:chOff x="0" y="0"/>
            <a:chExt cx="1981200" cy="780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8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" t="0" r="-53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981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S8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08047" y="3230623"/>
            <a:ext cx="4493257" cy="597913"/>
            <a:chOff x="0" y="0"/>
            <a:chExt cx="5991009" cy="79721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90971" cy="797179"/>
            </a:xfrm>
            <a:custGeom>
              <a:avLst/>
              <a:gdLst/>
              <a:ahLst/>
              <a:cxnLst/>
              <a:rect r="r" b="b" t="t" l="l"/>
              <a:pathLst>
                <a:path h="797179" w="5990971">
                  <a:moveTo>
                    <a:pt x="0" y="0"/>
                  </a:moveTo>
                  <a:lnTo>
                    <a:pt x="5990971" y="0"/>
                  </a:lnTo>
                  <a:lnTo>
                    <a:pt x="599097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1C1C1F"/>
            </a:solidFill>
            <a:ln w="127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97280" y="3236976"/>
            <a:ext cx="4206240" cy="585216"/>
            <a:chOff x="0" y="0"/>
            <a:chExt cx="560832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y simulación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73703" y="3297431"/>
            <a:ext cx="4483103" cy="464315"/>
            <a:chOff x="0" y="0"/>
            <a:chExt cx="5977471" cy="6190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77509" cy="619125"/>
            </a:xfrm>
            <a:custGeom>
              <a:avLst/>
              <a:gdLst/>
              <a:ahLst/>
              <a:cxnLst/>
              <a:rect r="r" b="b" t="t" l="l"/>
              <a:pathLst>
                <a:path h="619125" w="5977509">
                  <a:moveTo>
                    <a:pt x="0" y="0"/>
                  </a:moveTo>
                  <a:lnTo>
                    <a:pt x="5977509" y="0"/>
                  </a:lnTo>
                  <a:lnTo>
                    <a:pt x="5977509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08047" y="3888991"/>
            <a:ext cx="4493257" cy="597913"/>
            <a:chOff x="0" y="0"/>
            <a:chExt cx="5991009" cy="79721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990971" cy="797179"/>
            </a:xfrm>
            <a:custGeom>
              <a:avLst/>
              <a:gdLst/>
              <a:ahLst/>
              <a:cxnLst/>
              <a:rect r="r" b="b" t="t" l="l"/>
              <a:pathLst>
                <a:path h="797179" w="5990971">
                  <a:moveTo>
                    <a:pt x="0" y="0"/>
                  </a:moveTo>
                  <a:lnTo>
                    <a:pt x="5990971" y="0"/>
                  </a:lnTo>
                  <a:lnTo>
                    <a:pt x="599097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0B0B0C"/>
            </a:solidFill>
            <a:ln w="127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" y="3895344"/>
            <a:ext cx="4206240" cy="585216"/>
            <a:chOff x="0" y="0"/>
            <a:chExt cx="5608320" cy="7802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Estructura y eje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473703" y="3955799"/>
            <a:ext cx="4483103" cy="464315"/>
            <a:chOff x="0" y="0"/>
            <a:chExt cx="5977471" cy="61908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77509" cy="619125"/>
            </a:xfrm>
            <a:custGeom>
              <a:avLst/>
              <a:gdLst/>
              <a:ahLst/>
              <a:cxnLst/>
              <a:rect r="r" b="b" t="t" l="l"/>
              <a:pathLst>
                <a:path h="619125" w="5977509">
                  <a:moveTo>
                    <a:pt x="0" y="0"/>
                  </a:moveTo>
                  <a:lnTo>
                    <a:pt x="5977509" y="0"/>
                  </a:lnTo>
                  <a:lnTo>
                    <a:pt x="5977509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08047" y="4547359"/>
            <a:ext cx="4493257" cy="597913"/>
            <a:chOff x="0" y="0"/>
            <a:chExt cx="5991009" cy="79721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90971" cy="797179"/>
            </a:xfrm>
            <a:custGeom>
              <a:avLst/>
              <a:gdLst/>
              <a:ahLst/>
              <a:cxnLst/>
              <a:rect r="r" b="b" t="t" l="l"/>
              <a:pathLst>
                <a:path h="797179" w="5990971">
                  <a:moveTo>
                    <a:pt x="0" y="0"/>
                  </a:moveTo>
                  <a:lnTo>
                    <a:pt x="5990971" y="0"/>
                  </a:lnTo>
                  <a:lnTo>
                    <a:pt x="599097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1C1C1F"/>
            </a:solidFill>
            <a:ln w="127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97280" y="4553712"/>
            <a:ext cx="4206240" cy="585216"/>
            <a:chOff x="0" y="0"/>
            <a:chExt cx="5608320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Motores, ESC y PWM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959603" y="4614167"/>
            <a:ext cx="4483103" cy="464315"/>
            <a:chOff x="0" y="0"/>
            <a:chExt cx="5977471" cy="61908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977509" cy="619125"/>
            </a:xfrm>
            <a:custGeom>
              <a:avLst/>
              <a:gdLst/>
              <a:ahLst/>
              <a:cxnLst/>
              <a:rect r="r" b="b" t="t" l="l"/>
              <a:pathLst>
                <a:path h="619125" w="5977509">
                  <a:moveTo>
                    <a:pt x="0" y="0"/>
                  </a:moveTo>
                  <a:lnTo>
                    <a:pt x="5977509" y="0"/>
                  </a:lnTo>
                  <a:lnTo>
                    <a:pt x="5977509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08047" y="5205727"/>
            <a:ext cx="4493257" cy="597913"/>
            <a:chOff x="0" y="0"/>
            <a:chExt cx="5991009" cy="79721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990971" cy="797179"/>
            </a:xfrm>
            <a:custGeom>
              <a:avLst/>
              <a:gdLst/>
              <a:ahLst/>
              <a:cxnLst/>
              <a:rect r="r" b="b" t="t" l="l"/>
              <a:pathLst>
                <a:path h="797179" w="5990971">
                  <a:moveTo>
                    <a:pt x="0" y="0"/>
                  </a:moveTo>
                  <a:lnTo>
                    <a:pt x="5990971" y="0"/>
                  </a:lnTo>
                  <a:lnTo>
                    <a:pt x="599097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0B0B0C"/>
            </a:solidFill>
            <a:ln w="127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97280" y="5212080"/>
            <a:ext cx="4206240" cy="585216"/>
            <a:chOff x="0" y="0"/>
            <a:chExt cx="560832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Sensor de ángulo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959603" y="5272535"/>
            <a:ext cx="2997203" cy="464315"/>
            <a:chOff x="0" y="0"/>
            <a:chExt cx="3996271" cy="6190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996309" cy="619125"/>
            </a:xfrm>
            <a:custGeom>
              <a:avLst/>
              <a:gdLst/>
              <a:ahLst/>
              <a:cxnLst/>
              <a:rect r="r" b="b" t="t" l="l"/>
              <a:pathLst>
                <a:path h="619125" w="3996309">
                  <a:moveTo>
                    <a:pt x="0" y="0"/>
                  </a:moveTo>
                  <a:lnTo>
                    <a:pt x="3996309" y="0"/>
                  </a:lnTo>
                  <a:lnTo>
                    <a:pt x="3996309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08047" y="5864095"/>
            <a:ext cx="4493257" cy="597913"/>
            <a:chOff x="0" y="0"/>
            <a:chExt cx="5991009" cy="79721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990971" cy="797179"/>
            </a:xfrm>
            <a:custGeom>
              <a:avLst/>
              <a:gdLst/>
              <a:ahLst/>
              <a:cxnLst/>
              <a:rect r="r" b="b" t="t" l="l"/>
              <a:pathLst>
                <a:path h="797179" w="5990971">
                  <a:moveTo>
                    <a:pt x="0" y="0"/>
                  </a:moveTo>
                  <a:lnTo>
                    <a:pt x="5990971" y="0"/>
                  </a:lnTo>
                  <a:lnTo>
                    <a:pt x="599097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1C1C1F"/>
            </a:solidFill>
            <a:ln w="127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097280" y="5870448"/>
            <a:ext cx="4206240" cy="585216"/>
            <a:chOff x="0" y="0"/>
            <a:chExt cx="5608320" cy="7802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Firmware + PID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445503" y="5930903"/>
            <a:ext cx="5969003" cy="464315"/>
            <a:chOff x="0" y="0"/>
            <a:chExt cx="7958671" cy="61908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958709" cy="619125"/>
            </a:xfrm>
            <a:custGeom>
              <a:avLst/>
              <a:gdLst/>
              <a:ahLst/>
              <a:cxnLst/>
              <a:rect r="r" b="b" t="t" l="l"/>
              <a:pathLst>
                <a:path h="619125" w="7958709">
                  <a:moveTo>
                    <a:pt x="0" y="0"/>
                  </a:moveTo>
                  <a:lnTo>
                    <a:pt x="7958709" y="0"/>
                  </a:lnTo>
                  <a:lnTo>
                    <a:pt x="7958709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D4AF37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08047" y="6522463"/>
            <a:ext cx="4493257" cy="597913"/>
            <a:chOff x="0" y="0"/>
            <a:chExt cx="5991009" cy="79721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990971" cy="797179"/>
            </a:xfrm>
            <a:custGeom>
              <a:avLst/>
              <a:gdLst/>
              <a:ahLst/>
              <a:cxnLst/>
              <a:rect r="r" b="b" t="t" l="l"/>
              <a:pathLst>
                <a:path h="797179" w="5990971">
                  <a:moveTo>
                    <a:pt x="0" y="0"/>
                  </a:moveTo>
                  <a:lnTo>
                    <a:pt x="5990971" y="0"/>
                  </a:lnTo>
                  <a:lnTo>
                    <a:pt x="599097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0B0B0C"/>
            </a:solidFill>
            <a:ln w="127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097280" y="6528816"/>
            <a:ext cx="4206240" cy="585216"/>
            <a:chOff x="0" y="0"/>
            <a:chExt cx="5608320" cy="7802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Sintonía y pruebas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417303" y="6589271"/>
            <a:ext cx="4483103" cy="464315"/>
            <a:chOff x="0" y="0"/>
            <a:chExt cx="5977471" cy="61908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977509" cy="619125"/>
            </a:xfrm>
            <a:custGeom>
              <a:avLst/>
              <a:gdLst/>
              <a:ahLst/>
              <a:cxnLst/>
              <a:rect r="r" b="b" t="t" l="l"/>
              <a:pathLst>
                <a:path h="619125" w="5977509">
                  <a:moveTo>
                    <a:pt x="0" y="0"/>
                  </a:moveTo>
                  <a:lnTo>
                    <a:pt x="5977509" y="0"/>
                  </a:lnTo>
                  <a:lnTo>
                    <a:pt x="5977509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0D77A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08047" y="7180831"/>
            <a:ext cx="4493257" cy="597913"/>
            <a:chOff x="0" y="0"/>
            <a:chExt cx="5991009" cy="79721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990971" cy="797179"/>
            </a:xfrm>
            <a:custGeom>
              <a:avLst/>
              <a:gdLst/>
              <a:ahLst/>
              <a:cxnLst/>
              <a:rect r="r" b="b" t="t" l="l"/>
              <a:pathLst>
                <a:path h="797179" w="5990971">
                  <a:moveTo>
                    <a:pt x="0" y="0"/>
                  </a:moveTo>
                  <a:lnTo>
                    <a:pt x="5990971" y="0"/>
                  </a:lnTo>
                  <a:lnTo>
                    <a:pt x="599097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1C1C1F"/>
            </a:solidFill>
            <a:ln w="12700" cap="sq">
              <a:solidFill>
                <a:srgbClr val="0B0B0C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097280" y="7187184"/>
            <a:ext cx="4206240" cy="585216"/>
            <a:chOff x="0" y="0"/>
            <a:chExt cx="5608320" cy="78028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Telemetría y ajustes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903203" y="7247639"/>
            <a:ext cx="4483103" cy="464315"/>
            <a:chOff x="0" y="0"/>
            <a:chExt cx="5977471" cy="61908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977509" cy="619125"/>
            </a:xfrm>
            <a:custGeom>
              <a:avLst/>
              <a:gdLst/>
              <a:ahLst/>
              <a:cxnLst/>
              <a:rect r="r" b="b" t="t" l="l"/>
              <a:pathLst>
                <a:path h="619125" w="5977509">
                  <a:moveTo>
                    <a:pt x="0" y="0"/>
                  </a:moveTo>
                  <a:lnTo>
                    <a:pt x="5977509" y="0"/>
                  </a:lnTo>
                  <a:lnTo>
                    <a:pt x="5977509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0D77A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sp>
        <p:nvSpPr>
          <p:cNvPr name="AutoShape 97" id="97"/>
          <p:cNvSpPr/>
          <p:nvPr/>
        </p:nvSpPr>
        <p:spPr>
          <a:xfrm rot="5373600">
            <a:off x="8208188" y="5504307"/>
            <a:ext cx="4957715" cy="0"/>
          </a:xfrm>
          <a:prstGeom prst="line">
            <a:avLst/>
          </a:prstGeom>
          <a:ln cap="rnd" w="19050">
            <a:solidFill>
              <a:srgbClr val="F2F2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8" id="98"/>
          <p:cNvGrpSpPr/>
          <p:nvPr/>
        </p:nvGrpSpPr>
        <p:grpSpPr>
          <a:xfrm rot="0">
            <a:off x="10454897" y="7924295"/>
            <a:ext cx="464315" cy="464315"/>
            <a:chOff x="0" y="0"/>
            <a:chExt cx="619087" cy="61908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19125" cy="619125"/>
            </a:xfrm>
            <a:custGeom>
              <a:avLst/>
              <a:gdLst/>
              <a:ahLst/>
              <a:cxnLst/>
              <a:rect r="r" b="b" t="t" l="l"/>
              <a:pathLst>
                <a:path h="619125" w="619125">
                  <a:moveTo>
                    <a:pt x="0" y="309499"/>
                  </a:moveTo>
                  <a:lnTo>
                    <a:pt x="309499" y="0"/>
                  </a:lnTo>
                  <a:lnTo>
                    <a:pt x="619125" y="309499"/>
                  </a:lnTo>
                  <a:lnTo>
                    <a:pt x="309499" y="619125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F2F2F2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7029450" y="8449056"/>
            <a:ext cx="3657600" cy="457200"/>
            <a:chOff x="0" y="0"/>
            <a:chExt cx="4876800" cy="6096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4876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Etapa 2  [DD/MM]</a:t>
              </a:r>
            </a:p>
          </p:txBody>
        </p:sp>
      </p:grpSp>
      <p:sp>
        <p:nvSpPr>
          <p:cNvPr name="AutoShape 103" id="103"/>
          <p:cNvSpPr/>
          <p:nvPr/>
        </p:nvSpPr>
        <p:spPr>
          <a:xfrm rot="5373600">
            <a:off x="14151788" y="5504307"/>
            <a:ext cx="4957715" cy="0"/>
          </a:xfrm>
          <a:prstGeom prst="line">
            <a:avLst/>
          </a:prstGeom>
          <a:ln cap="rnd" w="19050">
            <a:solidFill>
              <a:srgbClr val="F2F2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4" id="104"/>
          <p:cNvGrpSpPr/>
          <p:nvPr/>
        </p:nvGrpSpPr>
        <p:grpSpPr>
          <a:xfrm rot="0">
            <a:off x="16398497" y="7924295"/>
            <a:ext cx="464315" cy="464315"/>
            <a:chOff x="0" y="0"/>
            <a:chExt cx="619087" cy="61908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19125" cy="619125"/>
            </a:xfrm>
            <a:custGeom>
              <a:avLst/>
              <a:gdLst/>
              <a:ahLst/>
              <a:cxnLst/>
              <a:rect r="r" b="b" t="t" l="l"/>
              <a:pathLst>
                <a:path h="619125" w="619125">
                  <a:moveTo>
                    <a:pt x="0" y="309499"/>
                  </a:moveTo>
                  <a:lnTo>
                    <a:pt x="309499" y="0"/>
                  </a:lnTo>
                  <a:lnTo>
                    <a:pt x="619125" y="309499"/>
                  </a:lnTo>
                  <a:lnTo>
                    <a:pt x="309499" y="619125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F2F2F2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973050" y="8449056"/>
            <a:ext cx="3657600" cy="457200"/>
            <a:chOff x="0" y="0"/>
            <a:chExt cx="4876800" cy="6096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4876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C9C9C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Etapa 3  [DD/MM]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14400" y="8961120"/>
            <a:ext cx="15361920" cy="402336"/>
            <a:chOff x="0" y="0"/>
            <a:chExt cx="20482560" cy="5364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0482561" cy="536448"/>
            </a:xfrm>
            <a:custGeom>
              <a:avLst/>
              <a:gdLst/>
              <a:ahLst/>
              <a:cxnLst/>
              <a:rect r="r" b="b" t="t" l="l"/>
              <a:pathLst>
                <a:path h="53644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974" r="0" b="-69397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0482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Semanas indicativas: sustituir por las fechas límite reales. Etapa 2: 75 % de módulos y 50 % de prototipo. Etapa 3: 100 % y código.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Presupuesto estimado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14400" y="2468880"/>
          <a:ext cx="10947400" cy="6400800"/>
        </p:xfrm>
        <a:graphic>
          <a:graphicData uri="http://schemas.openxmlformats.org/drawingml/2006/table">
            <a:tbl>
              <a:tblPr/>
              <a:tblGrid>
                <a:gridCol w="6729505"/>
                <a:gridCol w="1293555"/>
                <a:gridCol w="2924340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4AF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Componente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4AF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Cant.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4AF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Costo est. (MXN)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 motores brushless + 2 ESC + 2 hélices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$1,200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Batería o fuente de alimentación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$600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Sensor de ángulo (encoder / potenciómetro / IMU)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$250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Estructura, eje y rodamientos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$400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Cables, conectores y protecciones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$250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Placa STM32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2F2F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[por definir]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602842" y="2453002"/>
            <a:ext cx="4786627" cy="3506467"/>
            <a:chOff x="0" y="0"/>
            <a:chExt cx="6382169" cy="46752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82131" cy="4675251"/>
            </a:xfrm>
            <a:custGeom>
              <a:avLst/>
              <a:gdLst/>
              <a:ahLst/>
              <a:cxnLst/>
              <a:rect r="r" b="b" t="t" l="l"/>
              <a:pathLst>
                <a:path h="4675251" w="6382131">
                  <a:moveTo>
                    <a:pt x="0" y="0"/>
                  </a:moveTo>
                  <a:lnTo>
                    <a:pt x="6382131" y="0"/>
                  </a:lnTo>
                  <a:lnTo>
                    <a:pt x="6382131" y="4675251"/>
                  </a:lnTo>
                  <a:lnTo>
                    <a:pt x="0" y="4675251"/>
                  </a:lnTo>
                  <a:close/>
                </a:path>
              </a:pathLst>
            </a:custGeom>
            <a:solidFill>
              <a:srgbClr val="1C1C1F"/>
            </a:solidFill>
            <a:ln w="3175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1600" y="2651760"/>
            <a:ext cx="4389120" cy="548640"/>
            <a:chOff x="0" y="0"/>
            <a:chExt cx="585216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400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ESTIMADO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01600" y="3383280"/>
            <a:ext cx="4389120" cy="1280160"/>
            <a:chOff x="0" y="0"/>
            <a:chExt cx="5852160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521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85216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≈ $2,700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01600" y="4707255"/>
            <a:ext cx="438912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MXN · entre 4 integrantes ≈ $675 c/u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18720" y="6353175"/>
            <a:ext cx="4754880" cy="260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>
                <a:solidFill>
                  <a:srgbClr val="8E8E9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Viabilidad: componentes comunes y fáciles de conseguir, con el costo repartido entre 4 integrantes. Cifras estimadas, por confirmar con cotización.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5097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99">
                  <a:solidFill>
                    <a:srgbClr val="8E8E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AEROPÉNDULO PID · STM32   |   SISTEMAS EMBEBIDOS · ETAPA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C9C9C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Avances actuales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8522" y="2361562"/>
            <a:ext cx="5335267" cy="4237987"/>
            <a:chOff x="0" y="0"/>
            <a:chExt cx="7113689" cy="56506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3651" cy="5650611"/>
            </a:xfrm>
            <a:custGeom>
              <a:avLst/>
              <a:gdLst/>
              <a:ahLst/>
              <a:cxnLst/>
              <a:rect r="r" b="b" t="t" l="l"/>
              <a:pathLst>
                <a:path h="5650611" w="7113651">
                  <a:moveTo>
                    <a:pt x="0" y="0"/>
                  </a:moveTo>
                  <a:lnTo>
                    <a:pt x="7113651" y="0"/>
                  </a:lnTo>
                  <a:lnTo>
                    <a:pt x="7113651" y="5650611"/>
                  </a:lnTo>
                  <a:lnTo>
                    <a:pt x="0" y="5650611"/>
                  </a:lnTo>
                  <a:close/>
                </a:path>
              </a:pathLst>
            </a:custGeom>
            <a:solidFill>
              <a:srgbClr val="1C1C1F"/>
            </a:solidFill>
            <a:ln w="31750" cap="sq">
              <a:solidFill>
                <a:srgbClr val="D4AF37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931920"/>
            <a:ext cx="4937760" cy="1097280"/>
            <a:chOff x="0" y="0"/>
            <a:chExt cx="658368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[Foto: componentes comprados]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67802" y="2361562"/>
            <a:ext cx="5335267" cy="4237987"/>
            <a:chOff x="0" y="0"/>
            <a:chExt cx="7113689" cy="56506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3651" cy="5650611"/>
            </a:xfrm>
            <a:custGeom>
              <a:avLst/>
              <a:gdLst/>
              <a:ahLst/>
              <a:cxnLst/>
              <a:rect r="r" b="b" t="t" l="l"/>
              <a:pathLst>
                <a:path h="5650611" w="7113651">
                  <a:moveTo>
                    <a:pt x="0" y="0"/>
                  </a:moveTo>
                  <a:lnTo>
                    <a:pt x="7113651" y="0"/>
                  </a:lnTo>
                  <a:lnTo>
                    <a:pt x="7113651" y="5650611"/>
                  </a:lnTo>
                  <a:lnTo>
                    <a:pt x="0" y="5650611"/>
                  </a:lnTo>
                  <a:close/>
                </a:path>
              </a:pathLst>
            </a:custGeom>
            <a:solidFill>
              <a:srgbClr val="1C1C1F"/>
            </a:solidFill>
            <a:ln w="31750" cap="sq">
              <a:solidFill>
                <a:srgbClr val="D4AF37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6560" y="3931920"/>
            <a:ext cx="4937760" cy="1097280"/>
            <a:chOff x="0" y="0"/>
            <a:chExt cx="658368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5836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[Captura: prueba de PWM / código]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3435" y="2367915"/>
            <a:ext cx="5139690" cy="6785610"/>
            <a:chOff x="0" y="0"/>
            <a:chExt cx="6852920" cy="9047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2920" cy="9047480"/>
            </a:xfrm>
            <a:custGeom>
              <a:avLst/>
              <a:gdLst/>
              <a:ahLst/>
              <a:cxnLst/>
              <a:rect r="r" b="b" t="t" l="l"/>
              <a:pathLst>
                <a:path h="9047480" w="6852920">
                  <a:moveTo>
                    <a:pt x="0" y="0"/>
                  </a:moveTo>
                  <a:lnTo>
                    <a:pt x="6852920" y="0"/>
                  </a:lnTo>
                  <a:lnTo>
                    <a:pt x="6852920" y="9047480"/>
                  </a:lnTo>
                  <a:lnTo>
                    <a:pt x="0" y="9047480"/>
                  </a:lnTo>
                  <a:close/>
                </a:path>
              </a:pathLst>
            </a:custGeom>
            <a:solidFill>
              <a:srgbClr val="1C1C1F"/>
            </a:solidFill>
            <a:ln w="19050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618720" y="2560320"/>
            <a:ext cx="4389120" cy="457200"/>
            <a:chOff x="0" y="0"/>
            <a:chExt cx="585216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2160" cy="609600"/>
            </a:xfrm>
            <a:custGeom>
              <a:avLst/>
              <a:gdLst/>
              <a:ahLst/>
              <a:cxnLst/>
              <a:rect r="r" b="b" t="t" l="l"/>
              <a:pathLst>
                <a:path h="609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852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D4AF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06023" y="3425447"/>
            <a:ext cx="500891" cy="500891"/>
            <a:chOff x="0" y="0"/>
            <a:chExt cx="667855" cy="6678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7893" cy="667893"/>
            </a:xfrm>
            <a:custGeom>
              <a:avLst/>
              <a:gdLst/>
              <a:ahLst/>
              <a:cxnLst/>
              <a:rect r="r" b="b" t="t" l="l"/>
              <a:pathLst>
                <a:path h="667893" w="667893">
                  <a:moveTo>
                    <a:pt x="0" y="0"/>
                  </a:moveTo>
                  <a:lnTo>
                    <a:pt x="667893" y="0"/>
                  </a:lnTo>
                  <a:lnTo>
                    <a:pt x="667893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350240" y="3291840"/>
            <a:ext cx="3840480" cy="822960"/>
            <a:chOff x="0" y="0"/>
            <a:chExt cx="512064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Investigación de antecedentes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606023" y="4559303"/>
            <a:ext cx="500891" cy="500891"/>
            <a:chOff x="0" y="0"/>
            <a:chExt cx="667855" cy="6678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7893" cy="667893"/>
            </a:xfrm>
            <a:custGeom>
              <a:avLst/>
              <a:gdLst/>
              <a:ahLst/>
              <a:cxnLst/>
              <a:rect r="r" b="b" t="t" l="l"/>
              <a:pathLst>
                <a:path h="667893" w="667893">
                  <a:moveTo>
                    <a:pt x="0" y="0"/>
                  </a:moveTo>
                  <a:lnTo>
                    <a:pt x="667893" y="0"/>
                  </a:lnTo>
                  <a:lnTo>
                    <a:pt x="667893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350240" y="4425696"/>
            <a:ext cx="3840480" cy="822960"/>
            <a:chOff x="0" y="0"/>
            <a:chExt cx="512064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Selección de componentes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06023" y="5693159"/>
            <a:ext cx="500891" cy="500891"/>
            <a:chOff x="0" y="0"/>
            <a:chExt cx="667855" cy="6678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7893" cy="667893"/>
            </a:xfrm>
            <a:custGeom>
              <a:avLst/>
              <a:gdLst/>
              <a:ahLst/>
              <a:cxnLst/>
              <a:rect r="r" b="b" t="t" l="l"/>
              <a:pathLst>
                <a:path h="667893" w="667893">
                  <a:moveTo>
                    <a:pt x="0" y="0"/>
                  </a:moveTo>
                  <a:lnTo>
                    <a:pt x="667893" y="0"/>
                  </a:lnTo>
                  <a:lnTo>
                    <a:pt x="667893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350240" y="5559552"/>
            <a:ext cx="3840480" cy="822960"/>
            <a:chOff x="0" y="0"/>
            <a:chExt cx="512064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Compras realizadas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606023" y="6827015"/>
            <a:ext cx="500891" cy="500891"/>
            <a:chOff x="0" y="0"/>
            <a:chExt cx="667855" cy="6678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7893" cy="667893"/>
            </a:xfrm>
            <a:custGeom>
              <a:avLst/>
              <a:gdLst/>
              <a:ahLst/>
              <a:cxnLst/>
              <a:rect r="r" b="b" t="t" l="l"/>
              <a:pathLst>
                <a:path h="667893" w="667893">
                  <a:moveTo>
                    <a:pt x="0" y="0"/>
                  </a:moveTo>
                  <a:lnTo>
                    <a:pt x="667893" y="0"/>
                  </a:lnTo>
                  <a:lnTo>
                    <a:pt x="667893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350240" y="6693408"/>
            <a:ext cx="3840480" cy="822960"/>
            <a:chOff x="0" y="0"/>
            <a:chExt cx="512064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Código base (PWM + timer)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06023" y="7960871"/>
            <a:ext cx="500891" cy="500891"/>
            <a:chOff x="0" y="0"/>
            <a:chExt cx="667855" cy="6678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7893" cy="667893"/>
            </a:xfrm>
            <a:custGeom>
              <a:avLst/>
              <a:gdLst/>
              <a:ahLst/>
              <a:cxnLst/>
              <a:rect r="r" b="b" t="t" l="l"/>
              <a:pathLst>
                <a:path h="667893" w="667893">
                  <a:moveTo>
                    <a:pt x="0" y="0"/>
                  </a:moveTo>
                  <a:lnTo>
                    <a:pt x="667893" y="0"/>
                  </a:lnTo>
                  <a:lnTo>
                    <a:pt x="667893" y="667893"/>
                  </a:lnTo>
                  <a:lnTo>
                    <a:pt x="0" y="667893"/>
                  </a:lnTo>
                  <a:close/>
                </a:path>
              </a:pathLst>
            </a:custGeom>
            <a:solidFill>
              <a:srgbClr val="1C1C1F"/>
            </a:solidFill>
            <a:ln w="25400" cap="sq">
              <a:solidFill>
                <a:srgbClr val="D4AF3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350240" y="7827264"/>
            <a:ext cx="3840480" cy="822960"/>
            <a:chOff x="0" y="0"/>
            <a:chExt cx="51206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9C9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Estructura de la planta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98522" y="6933562"/>
            <a:ext cx="11004547" cy="2226307"/>
            <a:chOff x="0" y="0"/>
            <a:chExt cx="14672729" cy="296840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72690" cy="2968371"/>
            </a:xfrm>
            <a:custGeom>
              <a:avLst/>
              <a:gdLst/>
              <a:ahLst/>
              <a:cxnLst/>
              <a:rect r="r" b="b" t="t" l="l"/>
              <a:pathLst>
                <a:path h="2968371" w="14672690">
                  <a:moveTo>
                    <a:pt x="0" y="0"/>
                  </a:moveTo>
                  <a:lnTo>
                    <a:pt x="14672690" y="0"/>
                  </a:lnTo>
                  <a:lnTo>
                    <a:pt x="14672690" y="2968371"/>
                  </a:lnTo>
                  <a:lnTo>
                    <a:pt x="0" y="2968371"/>
                  </a:lnTo>
                  <a:close/>
                </a:path>
              </a:pathLst>
            </a:custGeom>
            <a:solidFill>
              <a:srgbClr val="1C1C1F"/>
            </a:solidFill>
            <a:ln w="31750" cap="sq">
              <a:solidFill>
                <a:srgbClr val="D4AF37"/>
              </a:solidFill>
              <a:prstDash val="dash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97280" y="7498080"/>
            <a:ext cx="10607040" cy="1097280"/>
            <a:chOff x="0" y="0"/>
            <a:chExt cx="1414272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14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41427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8E8E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[Foto: banco de pruebas / evidencia adicional]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8E8E94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DAHYaPIBpxE</dc:identifier>
  <dcterms:modified xsi:type="dcterms:W3CDTF">2011-08-01T06:04:30Z</dcterms:modified>
  <cp:revision>1</cp:revision>
  <dc:title>Proyecto DAGO</dc:title>
</cp:coreProperties>
</file>